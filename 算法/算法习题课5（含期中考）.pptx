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349" r:id="rId3"/>
    <p:sldId id="371" r:id="rId4"/>
    <p:sldId id="403" r:id="rId5"/>
    <p:sldId id="404" r:id="rId7"/>
    <p:sldId id="405" r:id="rId8"/>
    <p:sldId id="406" r:id="rId9"/>
    <p:sldId id="407" r:id="rId10"/>
    <p:sldId id="408" r:id="rId11"/>
    <p:sldId id="410" r:id="rId12"/>
    <p:sldId id="414" r:id="rId13"/>
    <p:sldId id="415" r:id="rId14"/>
    <p:sldId id="412" r:id="rId15"/>
    <p:sldId id="411" r:id="rId16"/>
    <p:sldId id="417" r:id="rId17"/>
    <p:sldId id="413" r:id="rId18"/>
    <p:sldId id="416" r:id="rId19"/>
    <p:sldId id="304" r:id="rId20"/>
    <p:sldId id="332" r:id="rId21"/>
    <p:sldId id="376" r:id="rId22"/>
    <p:sldId id="377" r:id="rId23"/>
    <p:sldId id="380" r:id="rId24"/>
    <p:sldId id="352" r:id="rId25"/>
    <p:sldId id="372" r:id="rId26"/>
    <p:sldId id="335" r:id="rId27"/>
    <p:sldId id="378" r:id="rId28"/>
    <p:sldId id="305" r:id="rId29"/>
    <p:sldId id="337" r:id="rId30"/>
    <p:sldId id="260" r:id="rId31"/>
    <p:sldId id="373" r:id="rId32"/>
    <p:sldId id="374" r:id="rId33"/>
    <p:sldId id="375" r:id="rId34"/>
    <p:sldId id="336" r:id="rId35"/>
    <p:sldId id="321" r:id="rId36"/>
    <p:sldId id="323" r:id="rId37"/>
    <p:sldId id="324" r:id="rId38"/>
    <p:sldId id="322" r:id="rId39"/>
    <p:sldId id="325" r:id="rId40"/>
    <p:sldId id="328" r:id="rId41"/>
    <p:sldId id="326" r:id="rId42"/>
    <p:sldId id="327" r:id="rId43"/>
  </p:sldIdLst>
  <p:sldSz cx="12192000" cy="6858000"/>
  <p:notesSz cx="6858000" cy="9144000"/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6" d="100"/>
          <a:sy n="86" d="100"/>
        </p:scale>
        <p:origin x="55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7" Type="http://schemas.openxmlformats.org/officeDocument/2006/relationships/tags" Target="tags/tag49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D677A-4774-4755-B438-C9BD52F6169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1A3981-8042-4D55-8A4B-33D25D63259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把一个函数</a:t>
            </a:r>
            <a:r>
              <a:rPr lang="zh-CN" altLang="en-US" b="1"/>
              <a:t> 反复复合调用，调用 k 次</a:t>
            </a:r>
            <a:r>
              <a:rPr lang="zh-CN" altLang="en-US"/>
              <a:t>，叫函数迭代。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会有人弄反最大和最小</a:t>
            </a:r>
            <a:endParaRPr lang="zh-CN" altLang="en-US"/>
          </a:p>
          <a:p>
            <a:r>
              <a:rPr lang="zh-CN" altLang="en-US"/>
              <a:t>快速排序</a:t>
            </a:r>
            <a:r>
              <a:rPr lang="en-US" altLang="zh-CN"/>
              <a:t> </a:t>
            </a:r>
            <a:r>
              <a:rPr lang="zh-CN" altLang="en-US" b="1"/>
              <a:t>递归树中叶子节点的深度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很多同学误以为：只有每次</a:t>
            </a:r>
            <a:r>
              <a:rPr lang="zh-CN" altLang="en-US" b="1"/>
              <a:t>严格对半分、基准在正中间</a:t>
            </a:r>
            <a:r>
              <a:rPr lang="zh-CN" altLang="en-US"/>
              <a:t>，</a:t>
            </a:r>
            <a:r>
              <a:rPr lang="zh-CN" altLang="en-US" b="1"/>
              <a:t>快排才能达到 \(O(n\log n)\)</a:t>
            </a:r>
            <a:r>
              <a:rPr lang="zh-CN" altLang="en-US"/>
              <a:t>，觉得分割越均衡越快，就判定这句话是对的，掉入陷阱。</a:t>
            </a:r>
            <a:endParaRPr lang="zh-CN" altLang="en-US"/>
          </a:p>
          <a:p>
            <a:r>
              <a:rPr lang="zh-CN" altLang="en-US" b="1"/>
              <a:t>随机选 pivot：</a:t>
            </a:r>
            <a:r>
              <a:rPr lang="zh-CN" altLang="en-US"/>
              <a:t>几乎不会</a:t>
            </a:r>
            <a:r>
              <a:rPr lang="zh-CN" altLang="en-US" b="1"/>
              <a:t>持续出现极端偏斜分割。长期期望</a:t>
            </a:r>
            <a:r>
              <a:rPr lang="zh-CN" altLang="en-US"/>
              <a:t>下，分割比例平均很均衡，期望层数稳定卡在 \(O(\log n)\)</a:t>
            </a:r>
            <a:endParaRPr lang="zh-CN" altLang="en-US"/>
          </a:p>
          <a:p>
            <a:r>
              <a:rPr lang="zh-CN" altLang="en-US"/>
              <a:t>所以不需要强制选中心 pivot，照样期望 \(O(n\log n)\)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不一定相同。</a:t>
            </a:r>
            <a:r>
              <a:rPr lang="zh-CN" altLang="en-US" b="1"/>
              <a:t>插入和删除的修复过程并非对称，</a:t>
            </a:r>
            <a:r>
              <a:rPr lang="zh-CN" altLang="en-US"/>
              <a:t>可能导致</a:t>
            </a:r>
            <a:r>
              <a:rPr lang="zh-CN" altLang="en-US" b="1"/>
              <a:t>最终树的颜色或结构发生变化。</a:t>
            </a:r>
            <a:endParaRPr lang="zh-CN" altLang="en-US" b="1"/>
          </a:p>
          <a:p>
            <a:endParaRPr lang="zh-CN" altLang="en-US"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因为</a:t>
            </a:r>
            <a:r>
              <a:rPr lang="zh-CN" altLang="en-US" b="1"/>
              <a:t>全局最好的人</a:t>
            </a:r>
            <a:r>
              <a:rPr lang="zh-CN" altLang="en-US"/>
              <a:t>可能出现在 k=2,3,…,n 中的任意一个位置（k=1 会导致只雇佣一次，不符题意）。</a:t>
            </a:r>
            <a:endParaRPr lang="zh-CN" altLang="en-US"/>
          </a:p>
          <a:p>
            <a:r>
              <a:rPr lang="zh-CN" altLang="en-US"/>
              <a:t>这些事件是</a:t>
            </a:r>
            <a:r>
              <a:rPr lang="zh-CN" altLang="en-US" b="1"/>
              <a:t>互斥的（最好的人不可能同时在两个位置</a:t>
            </a:r>
            <a:r>
              <a:rPr lang="zh-CN" altLang="en-US"/>
              <a:t>），所以</a:t>
            </a:r>
            <a:r>
              <a:rPr lang="zh-CN" altLang="en-US" b="1"/>
              <a:t>总概率就是各互斥情况的概率之和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 b="1"/>
              <a:t>每一个可能的 k 都代表一种不同的成功场景：最好的人出现在第 2 个且第 1 个是前 2 中的最优，或出现在第 3 个且第 1 个是前 3 中的最优，……，或出现在第 n 个且第 1 个是前 n-1 中的最优。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时间复杂度高于线性，不是本题的最优解。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计数排序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给定BST根节点和区间[L,R]，求所有节点值</a:t>
            </a:r>
            <a:r>
              <a:rPr lang="zh-CN" altLang="en-US" b="1"/>
              <a:t>在区间内的和</a:t>
            </a:r>
            <a:endParaRPr lang="zh-CN" altLang="en-US" b="1"/>
          </a:p>
          <a:p>
            <a:r>
              <a:rPr lang="zh-CN" altLang="en-US"/>
              <a:t>利用BST性质：</a:t>
            </a:r>
            <a:r>
              <a:rPr lang="zh-CN" altLang="en-US" b="1"/>
              <a:t>左子树节点值 ≤ 根节点值 ≤ 右子树节点值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若当前节点值 &lt; L，则左子树所有节点均 &lt; L，</a:t>
            </a:r>
            <a:r>
              <a:rPr lang="zh-CN" altLang="en-US" b="1"/>
              <a:t>只需搜索右子树。</a:t>
            </a:r>
            <a:endParaRPr lang="zh-CN" altLang="en-US" b="1"/>
          </a:p>
          <a:p>
            <a:r>
              <a:rPr lang="zh-CN" altLang="en-US"/>
              <a:t>若当前节点值 &gt; R，则右子树所有节点均 &gt; R，</a:t>
            </a:r>
            <a:r>
              <a:rPr lang="zh-CN" altLang="en-US" b="1"/>
              <a:t>只需搜索左子树。</a:t>
            </a:r>
            <a:endParaRPr lang="zh-CN" altLang="en-US" b="1"/>
          </a:p>
          <a:p>
            <a:r>
              <a:rPr lang="zh-CN" altLang="en-US"/>
              <a:t>否则，当前节点值在 [L, R] 内，累</a:t>
            </a:r>
            <a:r>
              <a:rPr lang="zh-CN" altLang="en-US" b="1"/>
              <a:t>加它，并递归处理左右子树。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任意</a:t>
            </a:r>
            <a:r>
              <a:rPr lang="zh-CN" altLang="en-US" b="1"/>
              <a:t>两棵包含相同 </a:t>
            </a:r>
            <a:r>
              <a:rPr lang="en-US" altLang="zh-CN" b="1"/>
              <a:t>n</a:t>
            </a:r>
            <a:r>
              <a:rPr lang="zh-CN" altLang="en-US" b="1"/>
              <a:t>个节点的二叉搜索树</a:t>
            </a:r>
            <a:r>
              <a:rPr lang="zh-CN" altLang="en-US"/>
              <a:t>，都可以通过最多 2n−2次旋转互相转换，因此总旋转次数是 O(n)级别的。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先强调关键前提：</a:t>
            </a:r>
            <a:r>
              <a:rPr lang="zh-CN" altLang="en-US" b="1"/>
              <a:t>RB-INSERT 插入的节点初始一定是红色，这是核心规则。</a:t>
            </a:r>
            <a:endParaRPr lang="zh-CN" altLang="en-US" b="1"/>
          </a:p>
          <a:p>
            <a:r>
              <a:rPr lang="zh-CN" altLang="en-US"/>
              <a:t>反证法的逻辑：</a:t>
            </a:r>
            <a:r>
              <a:rPr lang="zh-CN" altLang="en-US" b="1"/>
              <a:t>假设 “全黑”，看会发生什么矛盾。</a:t>
            </a:r>
            <a:endParaRPr lang="zh-CN" altLang="en-US"/>
          </a:p>
          <a:p>
            <a:r>
              <a:rPr lang="zh-CN" altLang="en-US"/>
              <a:t>举最小例子：</a:t>
            </a:r>
            <a:endParaRPr lang="zh-CN" altLang="en-US"/>
          </a:p>
          <a:p>
            <a:r>
              <a:rPr lang="zh-CN" altLang="en-US"/>
              <a:t>n=2 时，第二个节点必然是红的，矛盾就很直观。</a:t>
            </a:r>
            <a:endParaRPr lang="zh-CN" altLang="en-US"/>
          </a:p>
          <a:p>
            <a:r>
              <a:rPr lang="zh-CN" altLang="en-US"/>
              <a:t>点出调整过程的本质：</a:t>
            </a:r>
            <a:r>
              <a:rPr lang="zh-CN" altLang="en-US" b="1"/>
              <a:t>Fix-up 不会消灭红节点，只会转移它的位置，所以红节点永远不会消失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先强调关键前提：RB-INSERT 插入的节点初始一定是红色，这是核心规则。</a:t>
            </a:r>
            <a:endParaRPr lang="zh-CN" altLang="en-US"/>
          </a:p>
          <a:p>
            <a:r>
              <a:rPr lang="zh-CN" altLang="en-US"/>
              <a:t>反证法的逻辑：假设 “全黑”，看会发生什么矛盾。</a:t>
            </a:r>
            <a:endParaRPr lang="zh-CN" altLang="en-US"/>
          </a:p>
          <a:p>
            <a:r>
              <a:rPr lang="zh-CN" altLang="en-US"/>
              <a:t>举最小例子：</a:t>
            </a:r>
            <a:endParaRPr lang="zh-CN" altLang="en-US"/>
          </a:p>
          <a:p>
            <a:r>
              <a:rPr lang="zh-CN" altLang="en-US"/>
              <a:t>n=2</a:t>
            </a:r>
            <a:endParaRPr lang="zh-CN" altLang="en-US"/>
          </a:p>
          <a:p>
            <a:r>
              <a:rPr lang="zh-CN" altLang="en-US"/>
              <a:t> 时，第二个节点必然是红的，矛盾就很直观。</a:t>
            </a:r>
            <a:endParaRPr lang="zh-CN" altLang="en-US"/>
          </a:p>
          <a:p>
            <a:r>
              <a:rPr lang="zh-CN" altLang="en-US"/>
              <a:t>点出调整过程的本质：Fix-up 不会消灭红节点，只会转移它的位置，所以红节点永远不会消失。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证明红黑树删除修复的 Case 1 开始时，</a:t>
            </a:r>
            <a:r>
              <a:rPr lang="zh-CN" altLang="en-US" b="1"/>
              <a:t>节点 x 的父节点 x.p 一定是黑色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因此代码第 5-6 行的操作是安全的，不会违反红黑树性质。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给定一个整数 n，</a:t>
            </a:r>
            <a:r>
              <a:rPr lang="zh-CN" altLang="en-US" b="1"/>
              <a:t>求以 1 ... n 为节点组成的二叉搜索树有多少种？</a:t>
            </a:r>
            <a:endParaRPr lang="zh-CN" altLang="en-US" b="1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/>
              <a:t>只看布局，不看具体数值</a:t>
            </a:r>
            <a:endParaRPr lang="zh-CN" altLang="en-US" b="1"/>
          </a:p>
          <a:p>
            <a:r>
              <a:rPr lang="zh-CN" altLang="en-US">
                <a:sym typeface="+mn-ea"/>
              </a:rPr>
              <a:t>（可能有同学问了，这布局不一样啊，节点数值都不一样。别忘了我们就是</a:t>
            </a:r>
            <a:r>
              <a:rPr lang="zh-CN" altLang="en-US" b="1">
                <a:sym typeface="+mn-ea"/>
              </a:rPr>
              <a:t>求不同树的数量，并不用把搜索树都列出来，所以不用关心其具体数值的差异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给你一个整数 n ，请你生成并返回所有由 n 个节点组成且节点值从 1 到 n 互不相同的</a:t>
            </a:r>
            <a:r>
              <a:rPr lang="zh-CN" altLang="en-US" b="1"/>
              <a:t>不同 二叉搜索树 </a:t>
            </a:r>
            <a:r>
              <a:rPr lang="zh-CN" altLang="en-US"/>
              <a:t>。可以按 任意顺序 返回答案。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给定一个单链表的头节点  head ，</a:t>
            </a:r>
            <a:r>
              <a:rPr lang="zh-CN" altLang="en-US" b="1"/>
              <a:t>其中的元素 按升序排序 ，将其转换为 平衡 二叉搜索树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找中位数。作为根节点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346AF-1D14-47CA-8395-1C6541F0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BA5F58-1AE3-4756-AFE2-2CCE700C0EF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.png"/><Relationship Id="rId7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tags" Target="../tags/tag4.xml"/><Relationship Id="rId4" Type="http://schemas.openxmlformats.org/officeDocument/2006/relationships/image" Target="../media/image3.png"/><Relationship Id="rId3" Type="http://schemas.openxmlformats.org/officeDocument/2006/relationships/tags" Target="../tags/tag3.xml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image" Target="../media/image9.png"/><Relationship Id="rId7" Type="http://schemas.openxmlformats.org/officeDocument/2006/relationships/tags" Target="../tags/tag9.xml"/><Relationship Id="rId6" Type="http://schemas.openxmlformats.org/officeDocument/2006/relationships/image" Target="../media/image8.png"/><Relationship Id="rId5" Type="http://schemas.openxmlformats.org/officeDocument/2006/relationships/tags" Target="../tags/tag8.xml"/><Relationship Id="rId4" Type="http://schemas.openxmlformats.org/officeDocument/2006/relationships/image" Target="../media/image7.png"/><Relationship Id="rId3" Type="http://schemas.openxmlformats.org/officeDocument/2006/relationships/tags" Target="../tags/tag7.xml"/><Relationship Id="rId2" Type="http://schemas.openxmlformats.org/officeDocument/2006/relationships/image" Target="../media/image6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0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png"/><Relationship Id="rId7" Type="http://schemas.openxmlformats.org/officeDocument/2006/relationships/tags" Target="../tags/tag15.xml"/><Relationship Id="rId6" Type="http://schemas.openxmlformats.org/officeDocument/2006/relationships/image" Target="../media/image14.png"/><Relationship Id="rId5" Type="http://schemas.openxmlformats.org/officeDocument/2006/relationships/tags" Target="../tags/tag14.xml"/><Relationship Id="rId4" Type="http://schemas.openxmlformats.org/officeDocument/2006/relationships/image" Target="../media/image13.png"/><Relationship Id="rId3" Type="http://schemas.openxmlformats.org/officeDocument/2006/relationships/tags" Target="../tags/tag13.xml"/><Relationship Id="rId2" Type="http://schemas.openxmlformats.org/officeDocument/2006/relationships/image" Target="../media/image12.png"/><Relationship Id="rId10" Type="http://schemas.openxmlformats.org/officeDocument/2006/relationships/notesSlide" Target="../notesSlides/notesSlide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tags" Target="../tags/tag19.xml"/><Relationship Id="rId4" Type="http://schemas.openxmlformats.org/officeDocument/2006/relationships/image" Target="../media/image19.png"/><Relationship Id="rId3" Type="http://schemas.openxmlformats.org/officeDocument/2006/relationships/tags" Target="../tags/tag18.xml"/><Relationship Id="rId2" Type="http://schemas.openxmlformats.org/officeDocument/2006/relationships/image" Target="../media/image18.png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2.png"/><Relationship Id="rId2" Type="http://schemas.openxmlformats.org/officeDocument/2006/relationships/tags" Target="../tags/tag20.xml"/><Relationship Id="rId1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tags" Target="../tags/tag22.xml"/><Relationship Id="rId2" Type="http://schemas.openxmlformats.org/officeDocument/2006/relationships/image" Target="../media/image23.png"/><Relationship Id="rId1" Type="http://schemas.openxmlformats.org/officeDocument/2006/relationships/tags" Target="../tags/tag2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tags" Target="../tags/tag25.xml"/><Relationship Id="rId4" Type="http://schemas.openxmlformats.org/officeDocument/2006/relationships/image" Target="../media/image26.png"/><Relationship Id="rId3" Type="http://schemas.openxmlformats.org/officeDocument/2006/relationships/tags" Target="../tags/tag24.xml"/><Relationship Id="rId2" Type="http://schemas.openxmlformats.org/officeDocument/2006/relationships/image" Target="../media/image25.png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1.png"/><Relationship Id="rId7" Type="http://schemas.openxmlformats.org/officeDocument/2006/relationships/tags" Target="../tags/tag29.xml"/><Relationship Id="rId6" Type="http://schemas.openxmlformats.org/officeDocument/2006/relationships/image" Target="../media/image30.png"/><Relationship Id="rId5" Type="http://schemas.openxmlformats.org/officeDocument/2006/relationships/tags" Target="../tags/tag28.xml"/><Relationship Id="rId4" Type="http://schemas.openxmlformats.org/officeDocument/2006/relationships/image" Target="../media/image29.png"/><Relationship Id="rId3" Type="http://schemas.openxmlformats.org/officeDocument/2006/relationships/tags" Target="../tags/tag27.xml"/><Relationship Id="rId2" Type="http://schemas.openxmlformats.org/officeDocument/2006/relationships/image" Target="../media/image28.png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tags" Target="../tags/tag30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tags" Target="../tags/tag33.xml"/><Relationship Id="rId4" Type="http://schemas.openxmlformats.org/officeDocument/2006/relationships/image" Target="../media/image34.png"/><Relationship Id="rId3" Type="http://schemas.openxmlformats.org/officeDocument/2006/relationships/tags" Target="../tags/tag32.xml"/><Relationship Id="rId2" Type="http://schemas.openxmlformats.org/officeDocument/2006/relationships/image" Target="../media/image33.png"/><Relationship Id="rId1" Type="http://schemas.openxmlformats.org/officeDocument/2006/relationships/tags" Target="../tags/tag3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7.png"/><Relationship Id="rId3" Type="http://schemas.openxmlformats.org/officeDocument/2006/relationships/tags" Target="../tags/tag35.xml"/><Relationship Id="rId2" Type="http://schemas.openxmlformats.org/officeDocument/2006/relationships/image" Target="../media/image36.png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png"/><Relationship Id="rId3" Type="http://schemas.openxmlformats.org/officeDocument/2006/relationships/tags" Target="../tags/tag37.xml"/><Relationship Id="rId2" Type="http://schemas.openxmlformats.org/officeDocument/2006/relationships/image" Target="../media/image40.png"/><Relationship Id="rId1" Type="http://schemas.openxmlformats.org/officeDocument/2006/relationships/tags" Target="../tags/tag36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png"/><Relationship Id="rId3" Type="http://schemas.openxmlformats.org/officeDocument/2006/relationships/tags" Target="../tags/tag39.xml"/><Relationship Id="rId2" Type="http://schemas.openxmlformats.org/officeDocument/2006/relationships/image" Target="../media/image42.png"/><Relationship Id="rId1" Type="http://schemas.openxmlformats.org/officeDocument/2006/relationships/tags" Target="../tags/tag3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1" Type="http://schemas.openxmlformats.org/officeDocument/2006/relationships/tags" Target="../tags/tag4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8.png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0.png"/><Relationship Id="rId3" Type="http://schemas.openxmlformats.org/officeDocument/2006/relationships/tags" Target="../tags/tag44.xml"/><Relationship Id="rId2" Type="http://schemas.openxmlformats.org/officeDocument/2006/relationships/image" Target="../media/image49.png"/><Relationship Id="rId1" Type="http://schemas.openxmlformats.org/officeDocument/2006/relationships/tags" Target="../tags/tag4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jpe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5.png"/><Relationship Id="rId3" Type="http://schemas.openxmlformats.org/officeDocument/2006/relationships/tags" Target="../tags/tag46.xml"/><Relationship Id="rId2" Type="http://schemas.openxmlformats.org/officeDocument/2006/relationships/image" Target="../media/image54.png"/><Relationship Id="rId1" Type="http://schemas.openxmlformats.org/officeDocument/2006/relationships/tags" Target="../tags/tag4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1" Type="http://schemas.openxmlformats.org/officeDocument/2006/relationships/tags" Target="../tags/tag4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4.png"/><Relationship Id="rId2" Type="http://schemas.openxmlformats.org/officeDocument/2006/relationships/tags" Target="../tags/tag48.xml"/><Relationship Id="rId1" Type="http://schemas.openxmlformats.org/officeDocument/2006/relationships/image" Target="../media/image6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jpe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222206" y="2328530"/>
            <a:ext cx="9670311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Part1</a:t>
            </a:r>
            <a:r>
              <a:rPr lang="zh-CN" altLang="en-US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：期中考试题讲解</a:t>
            </a:r>
            <a:endParaRPr lang="zh-CN" altLang="en-US" sz="60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5900" y="187960"/>
            <a:ext cx="9248775" cy="2409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29590" y="1691005"/>
            <a:ext cx="5400675" cy="2543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160655"/>
            <a:ext cx="11854180" cy="1226185"/>
          </a:xfrm>
          <a:prstGeom prst="rect">
            <a:avLst/>
          </a:prstGeom>
        </p:spPr>
      </p:pic>
      <p:pic>
        <p:nvPicPr>
          <p:cNvPr id="6" name="图片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004685" y="1482090"/>
            <a:ext cx="4445635" cy="3718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81610" y="4326255"/>
            <a:ext cx="5076825" cy="24098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413750" y="123761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算法里几乎看成常数。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82905" y="365125"/>
            <a:ext cx="9601200" cy="1238250"/>
          </a:xfrm>
          <a:prstGeom prst="rect">
            <a:avLst/>
          </a:prstGeom>
        </p:spPr>
      </p:pic>
      <p:pic>
        <p:nvPicPr>
          <p:cNvPr id="22" name="图片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945" y="2498090"/>
            <a:ext cx="7273925" cy="135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14520" y="964565"/>
            <a:ext cx="7670800" cy="16135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857625"/>
            <a:ext cx="6038215" cy="28816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960745" y="4984750"/>
            <a:ext cx="5885815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66040"/>
            <a:ext cx="8533130" cy="44589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10820" y="189230"/>
            <a:ext cx="9601200" cy="2000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3505" y="2286000"/>
            <a:ext cx="5784850" cy="27800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81040" y="2092960"/>
            <a:ext cx="3370580" cy="42805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044440" y="6489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哪怕 9:1 极端不均分，递归深度依旧是对数级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09330" y="2639060"/>
            <a:ext cx="3413760" cy="25527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3505" y="5565140"/>
            <a:ext cx="53555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只要每次分割后子数组长度都是</a:t>
            </a:r>
            <a:r>
              <a:rPr lang="zh-CN" altLang="en-US" b="1"/>
              <a:t>原数组常数比例缩小，不管比例是几比几，递归深度一定是对数级别</a:t>
            </a:r>
            <a:r>
              <a:rPr lang="zh-CN" altLang="en-US"/>
              <a:t>，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只有一侧为空才会退化成线性深度。</a:t>
            </a:r>
            <a:endParaRPr lang="zh-CN" altLang="en-US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287135" cy="382905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8468995" y="237490"/>
            <a:ext cx="14798675" cy="88392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b="1">
                <a:solidFill>
                  <a:srgbClr val="000000"/>
                </a:solidFill>
                <a:latin typeface="宋体" panose="02010600030101010101" pitchFamily="2" charset="-122"/>
              </a:rPr>
              <a:t>(3)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</a:rPr>
              <a:t>主定理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8557260" y="605790"/>
            <a:ext cx="3217545" cy="35896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165100" y="4559935"/>
            <a:ext cx="10663555" cy="385254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indent="0"/>
            <a:r>
              <a:rPr lang="en-US" sz="2100" b="1">
                <a:solidFill>
                  <a:srgbClr val="000000"/>
                </a:solidFill>
                <a:latin typeface="宋体" panose="02010600030101010101" pitchFamily="2" charset="-122"/>
              </a:rPr>
              <a:t>(2) Insert then delete immediately: Is the tree the same?</a:t>
            </a:r>
            <a:r>
              <a:rPr lang="en-US" sz="2700" b="0">
                <a:solidFill>
                  <a:srgbClr val="FF0000"/>
                </a:solidFill>
                <a:latin typeface="等线" panose="02010600030101010101" charset="-122"/>
              </a:rPr>
              <a:t>False</a:t>
            </a:r>
            <a:r>
              <a:rPr lang="en-US" sz="2100" b="0">
                <a:solidFill>
                  <a:srgbClr val="000000"/>
                </a:solidFill>
                <a:latin typeface="宋体" panose="02010600030101010101" pitchFamily="2" charset="-122"/>
              </a:rPr>
              <a:t>Insertion may cause rotation to restore red-black properties; deletion only fixes properties but cannot recover the original tree structure.</a:t>
            </a:r>
            <a:r>
              <a:rPr lang="zh-CN" sz="2300" b="0">
                <a:ea typeface="宋体" panose="02010600030101010101" pitchFamily="2" charset="-122"/>
              </a:rPr>
              <a:t>反例：插入导致</a:t>
            </a:r>
            <a:r>
              <a:rPr lang="zh-CN" sz="2000" b="1">
                <a:solidFill>
                  <a:srgbClr val="1F2329"/>
                </a:solidFill>
                <a:ea typeface="宋体" panose="02010600030101010101" pitchFamily="2" charset="-122"/>
              </a:rPr>
              <a:t>结构旋转</a:t>
            </a:r>
            <a:r>
              <a:rPr lang="zh-CN" sz="2300" b="0">
                <a:ea typeface="宋体" panose="02010600030101010101" pitchFamily="2" charset="-122"/>
              </a:rPr>
              <a:t>后，再删除无法恢复原树形。例如插入引发左右旋，删除只能修复性质，不能复原结构。</a:t>
            </a:r>
            <a:endParaRPr lang="zh-CN" altLang="en-US" sz="23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210" y="879475"/>
            <a:ext cx="8877300" cy="1866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0810" y="155575"/>
            <a:ext cx="9029700" cy="723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361315" y="2746375"/>
            <a:ext cx="7889240" cy="390017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135745" y="314007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注意点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写时间复杂度要</a:t>
            </a:r>
            <a:r>
              <a:rPr lang="en-US" altLang="zh-CN">
                <a:solidFill>
                  <a:srgbClr val="FF0000"/>
                </a:solidFill>
              </a:rPr>
              <a:t>O()</a:t>
            </a:r>
            <a:endParaRPr lang="en-US" altLang="zh-CN">
              <a:solidFill>
                <a:srgbClr val="FF0000"/>
              </a:solidFill>
            </a:endParaRPr>
          </a:p>
          <a:p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123690" y="97599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全局最好的人位于位置 k，并且前 k−1个人中最好的那个恰好是第 1 个人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" name="文本框 101"/>
          <p:cNvSpPr txBox="1"/>
          <p:nvPr/>
        </p:nvSpPr>
        <p:spPr>
          <a:xfrm>
            <a:off x="69850" y="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1">
                <a:solidFill>
                  <a:srgbClr val="FF0000"/>
                </a:solidFill>
                <a:latin typeface="宋体" panose="02010600030101010101" pitchFamily="2" charset="-122"/>
              </a:rPr>
              <a:t>Problem 3. (15%) Finding a missing number</a:t>
            </a:r>
            <a:endParaRPr lang="en-US" altLang="en-US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9555" y="1289685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b="0">
                <a:latin typeface="Arial" panose="020B0604020202020204" pitchFamily="34" charset="0"/>
                <a:ea typeface="等线" panose="02010600030101010101" charset="-122"/>
              </a:rPr>
              <a:t>1. Compute total sum of </a:t>
            </a:r>
            <a:r>
              <a:rPr lang="en-US" b="0">
                <a:latin typeface="Arial" panose="020B0604020202020204" pitchFamily="34" charset="0"/>
              </a:rPr>
              <a:t>1-</a:t>
            </a:r>
            <a:r>
              <a:rPr lang="zh-CN" b="0">
                <a:latin typeface="Arial" panose="020B0604020202020204" pitchFamily="34" charset="0"/>
                <a:ea typeface="等线" panose="02010600030101010101" charset="-122"/>
              </a:rPr>
              <a:t>》</a:t>
            </a:r>
            <a:r>
              <a:rPr lang="en-US" b="0">
                <a:latin typeface="Arial" panose="020B0604020202020204" pitchFamily="34" charset="0"/>
              </a:rPr>
              <a:t>n+1</a:t>
            </a:r>
            <a:r>
              <a:rPr lang="en-US" b="0">
                <a:latin typeface="Arial" panose="020B0604020202020204" pitchFamily="34" charset="0"/>
                <a:ea typeface="等线" panose="02010600030101010101" charset="-122"/>
              </a:rPr>
              <a:t>:</a:t>
            </a:r>
            <a:endParaRPr lang="en-US" altLang="en-US" b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145415" y="1657985"/>
            <a:ext cx="2646680" cy="2657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7112000" y="-308610"/>
            <a:ext cx="5080000" cy="1137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500" b="1">
                <a:latin typeface="Arial" panose="020B0604020202020204" pitchFamily="34" charset="0"/>
                <a:ea typeface="等线" panose="02010600030101010101" charset="-122"/>
              </a:rPr>
              <a:t>Time Complexity</a:t>
            </a:r>
            <a:r>
              <a:rPr lang="en-US" b="0">
                <a:latin typeface="Arial" panose="020B0604020202020204" pitchFamily="34" charset="0"/>
                <a:ea typeface="等线" panose="02010600030101010101" charset="-122"/>
              </a:rPr>
              <a:t>Worst-case: O(n)(one pass over the array)</a:t>
            </a:r>
            <a:endParaRPr lang="en-US" altLang="en-US" b="0">
              <a:latin typeface="Arial" panose="020B0604020202020204" pitchFamily="34" charset="0"/>
              <a:ea typeface="等线" panose="0201060003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60795" y="1078865"/>
            <a:ext cx="5080000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endParaRPr lang="zh-CN" sz="20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indent="0"/>
            <a:r>
              <a:rPr 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法</a:t>
            </a: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>
                <a:solidFill>
                  <a:srgbClr val="000000"/>
                </a:solidFill>
                <a:ea typeface="宋体" panose="02010600030101010101" pitchFamily="2" charset="-122"/>
              </a:rPr>
              <a:t>：计数数组（哈希/桶思想）</a:t>
            </a:r>
            <a:endParaRPr lang="zh-CN" altLang="en-US" sz="20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indent="0"/>
            <a:endParaRPr lang="zh-CN" altLang="en-US" sz="2000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33375" y="4315460"/>
            <a:ext cx="4634865" cy="230632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80975" y="274955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/>
            <a:r>
              <a:rPr lang="zh-CN" sz="20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法</a:t>
            </a:r>
            <a:r>
              <a:rPr lang="en-US" altLang="zh-CN" sz="20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：</a:t>
            </a:r>
            <a:endParaRPr lang="zh-CN" altLang="en-US" sz="2000" b="1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indent="0"/>
            <a:r>
              <a:rPr lang="zh-CN" sz="20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算 1 到 n+1的整数和，减去数组所有元素之和，差值即为缺失的数字</a:t>
            </a:r>
            <a:endParaRPr lang="zh-CN" altLang="en-US" sz="2000" b="1">
              <a:solidFill>
                <a:srgbClr val="000000"/>
              </a:solidFill>
              <a:ea typeface="宋体" panose="02010600030101010101" pitchFamily="2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49950" y="1882140"/>
            <a:ext cx="609600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由于数值范围已知（1 ~ n+1），可以创建一个长度为 n+2 的布尔数组（或整型计数数组），将出现的数字标记出来，最后找出未标记的位置。</a:t>
            </a:r>
            <a:endParaRPr lang="zh-CN" altLang="en-US"/>
          </a:p>
          <a:p>
            <a:r>
              <a:rPr lang="en-US" altLang="zh-CN"/>
              <a:t>========================</a:t>
            </a:r>
            <a:endParaRPr lang="zh-CN" altLang="en-US"/>
          </a:p>
          <a:p>
            <a:r>
              <a:rPr lang="zh-CN" altLang="en-US"/>
              <a:t>创建 bool present[n+2]，全部初始化为 false（索引从 1 到 n+1）。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遍历数组，对于每一个元素 x，设置 present[x] = true。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遍历 i 从 1 到 n+1，找到第一个 present[i] == false 的 i，即为缺失的数字。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时间：O(n)，两次独立循环。</a:t>
            </a:r>
            <a:endParaRPr lang="zh-CN" altLang="en-US"/>
          </a:p>
          <a:p>
            <a:r>
              <a:rPr lang="zh-CN" altLang="en-US"/>
              <a:t>空间：O(n)，需要一个大小为 n+2 的额外数组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7165" y="118745"/>
            <a:ext cx="823595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方法三：排序后查找（例如归并排序后扫描）</a:t>
            </a:r>
            <a:endParaRPr lang="zh-CN" altLang="en-US"/>
          </a:p>
          <a:p>
            <a:r>
              <a:rPr lang="zh-CN" altLang="en-US"/>
              <a:t>思路：先对数组进行</a:t>
            </a:r>
            <a:r>
              <a:rPr lang="zh-CN" altLang="en-US" b="1"/>
              <a:t>排序</a:t>
            </a:r>
            <a:r>
              <a:rPr lang="zh-CN" altLang="en-US"/>
              <a:t>，然后在有序序列中查找缺失的数。由于排序后，如果所有数都在，则第 i 个元素应当等于 i+1；第一个破坏该规律的位置即指示缺失的数。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步骤：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使用归并排序（或堆排序等 O(n log n) 算法）对数组进行排序。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遍历排序后的数组，检查 A[i] 是否等于 i+1。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 A[i] != i+1，则缺失的数是 i+1，返回它。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如果整个数组都满足 A[i] == i+1，说明缺失的是 n+1（因为前 n 个数都齐了）。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时间：O(n log n)，由排序主导。</a:t>
            </a:r>
            <a:endParaRPr lang="zh-CN" altLang="en-US"/>
          </a:p>
          <a:p>
            <a:r>
              <a:rPr lang="zh-CN" altLang="en-US"/>
              <a:t>空间：取决于排序算法，归并排序需要 O(n) 额外空间，堆排序 O(1) 空间，快速排序平均 O(log n) 额外空间。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58510" y="629285"/>
            <a:ext cx="6467475" cy="2495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8440" y="1044575"/>
            <a:ext cx="5010150" cy="40290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8440" y="10731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sym typeface="+mn-ea"/>
              </a:rPr>
              <a:t>计数排序</a:t>
            </a:r>
            <a:endParaRPr lang="zh-CN" altLang="en-US" sz="28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61380" y="1841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排序后扫描法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615" y="0"/>
            <a:ext cx="7372350" cy="1838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52895" y="175895"/>
            <a:ext cx="5168265" cy="63582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45465" y="4366260"/>
            <a:ext cx="3995420" cy="22517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5270" y="198120"/>
            <a:ext cx="9334500" cy="1104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55270" y="1391920"/>
            <a:ext cx="6819900" cy="14287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73990" y="2909570"/>
            <a:ext cx="4867275" cy="384810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6868795" y="1391920"/>
            <a:ext cx="5080000" cy="3692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b="0">
                <a:ea typeface="等线" panose="02010600030101010101" charset="-122"/>
              </a:rPr>
              <a:t>通过</a:t>
            </a:r>
            <a:r>
              <a:rPr lang="zh-CN" b="1">
                <a:ea typeface="等线" panose="02010600030101010101" charset="-122"/>
              </a:rPr>
              <a:t>两两比较，先找出最大值</a:t>
            </a:r>
            <a:r>
              <a:rPr lang="zh-CN" b="0">
                <a:ea typeface="等线" panose="02010600030101010101" charset="-122"/>
              </a:rPr>
              <a:t>，同时记录所有与最大值直接比较过的元素，然后在这些元素中找出最大值</a:t>
            </a:r>
            <a:r>
              <a:rPr lang="zh-CN" b="1">
                <a:ea typeface="等线" panose="02010600030101010101" charset="-122"/>
              </a:rPr>
              <a:t>步骤 1：像打比赛一样两两比较，找到</a:t>
            </a:r>
            <a:endParaRPr lang="zh-CN" b="1">
              <a:ea typeface="等线" panose="02010600030101010101" charset="-122"/>
            </a:endParaRPr>
          </a:p>
          <a:p>
            <a:pPr indent="0"/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找最大值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两两 PK，胜者晋级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直到决出冠军（最大值）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比较次数：n−1 次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步骤 2：第二大元素一定是被最大值直接击败的人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最大值一共打赢了</a:t>
            </a:r>
            <a:r>
              <a:rPr lang="zh-CN" b="1">
                <a:solidFill>
                  <a:srgbClr val="FF0000"/>
                </a:solidFill>
                <a:ea typeface="等线" panose="02010600030101010101" charset="-122"/>
              </a:rPr>
              <a:t> logn </a:t>
            </a:r>
            <a:r>
              <a:rPr lang="zh-CN" b="1">
                <a:ea typeface="等线" panose="02010600030101010101" charset="-122"/>
              </a:rPr>
              <a:t>个对手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在这 logn 个人里找最大 → 就是第二大</a:t>
            </a:r>
            <a:endParaRPr lang="zh-CN" b="1">
              <a:ea typeface="等线" panose="02010600030101010101" charset="-122"/>
            </a:endParaRPr>
          </a:p>
          <a:p>
            <a:pPr indent="0"/>
            <a:r>
              <a:rPr lang="zh-CN" b="1">
                <a:ea typeface="等线" panose="02010600030101010101" charset="-122"/>
              </a:rPr>
              <a:t>比较次数：logn − 1 次</a:t>
            </a:r>
            <a:endParaRPr lang="zh-CN" b="1">
              <a:ea typeface="等线" panose="02010600030101010101" charset="-122"/>
            </a:endParaRPr>
          </a:p>
        </p:txBody>
      </p:sp>
      <p:pic>
        <p:nvPicPr>
          <p:cNvPr id="24" name="图片 2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451090" y="5281930"/>
            <a:ext cx="4286250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586105" y="208280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法</a:t>
            </a:r>
            <a:r>
              <a:rPr lang="en-US" altLang="zh-CN" sz="2400"/>
              <a:t>2</a:t>
            </a:r>
            <a:r>
              <a:rPr lang="zh-CN" altLang="en-US" sz="2400"/>
              <a:t>：分治法（和锦标赛法等价）</a:t>
            </a:r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480695" y="791845"/>
            <a:ext cx="9870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都是通过递归先找左右两半的最大值，再比较得到全局最大值，同时记录被击败的元素。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58495" y="1160145"/>
            <a:ext cx="5950585" cy="54921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72720" y="200660"/>
            <a:ext cx="9458325" cy="2085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0685" y="228663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种常见方法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1.</a:t>
            </a:r>
            <a:r>
              <a:rPr lang="zh-CN" altLang="en-US"/>
              <a:t>先中序排序，在求范围和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递归求范围和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17490" y="1920240"/>
            <a:ext cx="6619875" cy="44577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56540" y="3707130"/>
            <a:ext cx="3705225" cy="19335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43215" y="207391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递归求范围和</a:t>
            </a:r>
            <a:endParaRPr lang="zh-CN" altLang="en-US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295" y="608012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时间复杂度：最坏情况 O(n)（区间覆盖所有节点），</a:t>
            </a:r>
            <a:endParaRPr lang="zh-CN" altLang="en-US"/>
          </a:p>
          <a:p>
            <a:r>
              <a:rPr lang="zh-CN" altLang="en-US"/>
              <a:t>平均情况优于 O(n)（剪枝减少访问节点数）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226695" y="25590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先中序排序，在求范围和</a:t>
            </a:r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02985" y="765810"/>
            <a:ext cx="5182870" cy="1259840"/>
          </a:xfrm>
          <a:prstGeom prst="rect">
            <a:avLst/>
          </a:prstGeom>
        </p:spPr>
      </p:pic>
      <p:pic>
        <p:nvPicPr>
          <p:cNvPr id="8" name="内容占位符 7"/>
          <p:cNvPicPr>
            <a:picLocks noChangeAspect="1"/>
          </p:cNvPicPr>
          <p:nvPr>
            <p:ph idx="1"/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4015" y="624205"/>
            <a:ext cx="4685665" cy="60509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22206" y="2328530"/>
            <a:ext cx="96703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Part2</a:t>
            </a:r>
            <a:r>
              <a:rPr lang="zh-CN" altLang="en-US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Homework-8</a:t>
            </a:r>
            <a:r>
              <a:rPr lang="zh-CN" altLang="en-US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讲解</a:t>
            </a:r>
            <a:endParaRPr lang="zh-CN" altLang="en-US" sz="60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55" y="369004"/>
            <a:ext cx="7061563" cy="104145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55" y="1524512"/>
            <a:ext cx="11427307" cy="333693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0370" y="5232400"/>
            <a:ext cx="108057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任意两棵包含相同 </a:t>
            </a:r>
            <a:r>
              <a:rPr lang="en-US" altLang="zh-CN">
                <a:sym typeface="+mn-ea"/>
              </a:rPr>
              <a:t>n</a:t>
            </a:r>
            <a:r>
              <a:rPr lang="zh-CN" altLang="en-US">
                <a:sym typeface="+mn-ea"/>
              </a:rPr>
              <a:t>个节点的二叉搜索树，都可以通过最多 2n−2次旋转互相转换，因此总旋转次数是 O(n)级别的。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688580" cy="27317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58750" y="2828290"/>
            <a:ext cx="94869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19050"/>
            <a:ext cx="7745730" cy="42957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152005" y="4314825"/>
            <a:ext cx="5410200" cy="2543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6205" y="4784090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为什么可以通过右链中转？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/>
              <a:t>因为所有二叉搜索树的</a:t>
            </a:r>
            <a:r>
              <a:rPr lang="zh-CN" altLang="en-US" b="1"/>
              <a:t>中序遍历都是相同的</a:t>
            </a:r>
            <a:r>
              <a:rPr lang="zh-CN" altLang="en-US"/>
              <a:t>（节点值的升序），而</a:t>
            </a:r>
            <a:r>
              <a:rPr lang="zh-CN" altLang="en-US" b="1"/>
              <a:t>旋转操作不会改变中序遍历结果</a:t>
            </a:r>
            <a:r>
              <a:rPr lang="zh-CN" altLang="en-US"/>
              <a:t>，所以右链是所有同节点 BST 的 </a:t>
            </a:r>
            <a:r>
              <a:rPr lang="zh-CN" altLang="en-US" b="1"/>
              <a:t>“公共中间状态”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90500" y="175895"/>
            <a:ext cx="836739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为什么可以通过右链中转？</a:t>
            </a:r>
            <a:endParaRPr lang="zh-CN" altLang="en-US" b="1"/>
          </a:p>
          <a:p>
            <a:endParaRPr lang="zh-CN" altLang="en-US" b="1"/>
          </a:p>
          <a:p>
            <a:r>
              <a:rPr lang="zh-CN" altLang="en-US"/>
              <a:t>因为所有二叉搜索树的中序遍历都是相同的（节点值的升序），而旋转操作不会改变中序遍历结果，所以右链是所有同节点 BST 的 “公共中间状态”。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89560" y="1578610"/>
            <a:ext cx="6096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同一组数值的所有 BST，中序遍历完全一模一样（从小到大升序）。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左旋、右旋，永远不会改变一棵 BST 的中序遍历序列。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右链（全部只有右孩子、排成一条向右的链）它的中序遍历，刚好就是从小到大升序。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89560" y="4025265"/>
            <a:ext cx="116960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任意一棵 BST → 旋转 → 变成右链</a:t>
            </a:r>
            <a:endParaRPr lang="zh-CN" altLang="en-US"/>
          </a:p>
          <a:p>
            <a:r>
              <a:rPr lang="zh-CN" altLang="en-US"/>
              <a:t>另一棵任意 BST → 旋转 → 也能变成同一个右链</a:t>
            </a:r>
            <a:endParaRPr lang="zh-CN" altLang="en-US"/>
          </a:p>
          <a:p>
            <a:r>
              <a:rPr lang="zh-CN" altLang="en-US"/>
              <a:t>右链 = 所有同值 BST 的统一中间形态大家都能转到它，也都能从它转回去，当然可以当中转站。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9735" y="5363845"/>
            <a:ext cx="97485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左链</a:t>
            </a:r>
            <a:r>
              <a:rPr lang="en-US" altLang="zh-CN" b="1"/>
              <a:t>? ok</a:t>
            </a:r>
            <a:r>
              <a:rPr lang="zh-CN" altLang="en-US" b="1"/>
              <a:t>的</a:t>
            </a:r>
            <a:endParaRPr lang="en-US" altLang="zh-CN" b="1"/>
          </a:p>
          <a:p>
            <a:endParaRPr lang="en-US" altLang="zh-CN" b="1"/>
          </a:p>
          <a:p>
            <a:r>
              <a:rPr lang="en-US" altLang="zh-CN" b="1"/>
              <a:t>左右链其实都能当中转，原理一模一样</a:t>
            </a:r>
            <a:endParaRPr lang="en-US" altLang="zh-CN" b="1"/>
          </a:p>
          <a:p>
            <a:r>
              <a:rPr lang="en-US" altLang="zh-CN" b="1"/>
              <a:t>教材 / 考试只要求写 “右链”</a:t>
            </a:r>
            <a:endParaRPr lang="en-US" altLang="zh-CN" b="1"/>
          </a:p>
        </p:txBody>
      </p:sp>
      <p:sp>
        <p:nvSpPr>
          <p:cNvPr id="6" name="文本框 5"/>
          <p:cNvSpPr txBox="1"/>
          <p:nvPr/>
        </p:nvSpPr>
        <p:spPr>
          <a:xfrm>
            <a:off x="9853295" y="365760"/>
            <a:ext cx="192024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  1</a:t>
            </a:r>
            <a:endParaRPr lang="zh-CN" altLang="en-US"/>
          </a:p>
          <a:p>
            <a:r>
              <a:rPr lang="zh-CN" altLang="en-US"/>
              <a:t>       \</a:t>
            </a:r>
            <a:endParaRPr lang="zh-CN" altLang="en-US"/>
          </a:p>
          <a:p>
            <a:r>
              <a:rPr lang="zh-CN" altLang="en-US"/>
              <a:t>        2</a:t>
            </a:r>
            <a:endParaRPr lang="zh-CN" altLang="en-US"/>
          </a:p>
          <a:p>
            <a:r>
              <a:rPr lang="zh-CN" altLang="en-US"/>
              <a:t>         \</a:t>
            </a:r>
            <a:endParaRPr lang="zh-CN" altLang="en-US"/>
          </a:p>
          <a:p>
            <a:r>
              <a:rPr lang="zh-CN" altLang="en-US"/>
              <a:t>          3</a:t>
            </a:r>
            <a:endParaRPr lang="zh-CN" altLang="en-US"/>
          </a:p>
          <a:p>
            <a:r>
              <a:rPr lang="zh-CN" altLang="en-US"/>
              <a:t>           \</a:t>
            </a:r>
            <a:endParaRPr lang="zh-CN" altLang="en-US"/>
          </a:p>
          <a:p>
            <a:r>
              <a:rPr lang="zh-CN" altLang="en-US"/>
              <a:t>            4</a:t>
            </a:r>
            <a:endParaRPr lang="zh-CN" altLang="en-US"/>
          </a:p>
          <a:p>
            <a:r>
              <a:rPr lang="zh-CN" altLang="en-US"/>
              <a:t>             \</a:t>
            </a:r>
            <a:endParaRPr lang="zh-CN" altLang="en-US"/>
          </a:p>
          <a:p>
            <a:r>
              <a:rPr lang="zh-CN" altLang="en-US"/>
              <a:t>              5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-14605"/>
            <a:ext cx="8715375" cy="10287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94615" y="1014095"/>
            <a:ext cx="11644630" cy="44145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红黑树的 5 条性质里，和本题相关的有 3 条：</a:t>
            </a:r>
            <a:endParaRPr lang="zh-CN" altLang="en-US"/>
          </a:p>
          <a:p>
            <a:r>
              <a:rPr lang="zh-CN" altLang="en-US"/>
              <a:t>每个节点要么是红色，要么是黑色。</a:t>
            </a:r>
            <a:endParaRPr lang="zh-CN" altLang="en-US"/>
          </a:p>
          <a:p>
            <a:r>
              <a:rPr lang="zh-CN" altLang="en-US"/>
              <a:t>根节点是黑色。</a:t>
            </a:r>
            <a:endParaRPr lang="zh-CN" altLang="en-US"/>
          </a:p>
          <a:p>
            <a:r>
              <a:rPr lang="zh-CN" altLang="en-US"/>
              <a:t>所有叶子节点（NIL）是黑色。</a:t>
            </a:r>
            <a:endParaRPr lang="zh-CN" altLang="en-US"/>
          </a:p>
          <a:p>
            <a:r>
              <a:rPr lang="zh-CN" altLang="en-US"/>
              <a:t>如果一个节点是红色，那么它的两个子节点都是黑色（红节点不能有红孩子）。</a:t>
            </a:r>
            <a:endParaRPr lang="zh-CN" altLang="en-US"/>
          </a:p>
          <a:p>
            <a:r>
              <a:rPr lang="zh-CN" altLang="en-US"/>
              <a:t>从任意节点到其所有后代叶子节点的路径上，黑色节点的数量相同（黑高一致）。</a:t>
            </a:r>
            <a:endParaRPr lang="zh-CN" altLang="en-US"/>
          </a:p>
          <a:p>
            <a:r>
              <a:rPr lang="zh-CN" altLang="en-US"/>
              <a:t>另外，RB-INSERT 算法有一个关键规则：</a:t>
            </a:r>
            <a:endParaRPr lang="zh-CN" altLang="en-US"/>
          </a:p>
          <a:p>
            <a:r>
              <a:rPr lang="zh-CN" altLang="en-US"/>
              <a:t>新插入的节点，初始颜色一定是红色。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88510" y="3211830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反证法</a:t>
            </a:r>
            <a:endParaRPr lang="zh-CN" altLang="en-US" b="1"/>
          </a:p>
          <a:p>
            <a:r>
              <a:rPr lang="zh-CN" altLang="en-US"/>
              <a:t>假设结论不成立：</a:t>
            </a:r>
            <a:endParaRPr lang="zh-CN" altLang="en-US"/>
          </a:p>
          <a:p>
            <a:r>
              <a:rPr lang="zh-CN" altLang="en-US"/>
              <a:t>即当 n&gt;1时，树中没有红色节点，所有节点都是黑色。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====</a:t>
            </a:r>
            <a:r>
              <a:rPr lang="zh-CN" altLang="en-US"/>
              <a:t>》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24180" y="4910455"/>
            <a:ext cx="1067371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情况 1：n=2</a:t>
            </a:r>
            <a:r>
              <a:rPr lang="zh-CN" altLang="en-US"/>
              <a:t>（两个节点）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插入第一个节点：作为根节点，按规则会被染成黑色。</a:t>
            </a:r>
            <a:endParaRPr lang="zh-CN" altLang="en-US"/>
          </a:p>
          <a:p>
            <a:r>
              <a:rPr lang="zh-CN" altLang="en-US"/>
              <a:t>插入第二个节点：初始为红色。此时：</a:t>
            </a:r>
            <a:endParaRPr lang="zh-CN" altLang="en-US"/>
          </a:p>
          <a:p>
            <a:r>
              <a:rPr lang="zh-CN" altLang="en-US"/>
              <a:t>如果父节点（根）是黑色，红节点可以直接保留，树中就有了红节点，与 “全黑” 的假设矛盾。</a:t>
            </a:r>
            <a:endParaRPr lang="zh-CN" altLang="en-US"/>
          </a:p>
          <a:p>
            <a:r>
              <a:rPr lang="zh-CN" altLang="en-US"/>
              <a:t>无论如何调整，第二个节点插入后，红黑树的结构里必然存在红节点（否则会破坏黑高性质）。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5250" y="490855"/>
            <a:ext cx="1187767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情况 2：n&gt;2，假设所有节点都是黑色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所有节点都是黑色，意味着从根到每个叶子的路径上，黑节点数就是路径长度本身。</a:t>
            </a:r>
            <a:endParaRPr lang="zh-CN" altLang="en-US"/>
          </a:p>
          <a:p>
            <a:r>
              <a:rPr lang="zh-CN" altLang="en-US"/>
              <a:t>但 RB-INSERT 算法插入新节点时，新节点初始为红色。要让它变成黑色，必须经过调整（变色 / 旋转）。</a:t>
            </a:r>
            <a:endParaRPr lang="zh-CN" altLang="en-US"/>
          </a:p>
          <a:p>
            <a:r>
              <a:rPr lang="zh-CN" altLang="en-US"/>
              <a:t>调整过程中，红节点要么保留，要么它的父 / 叔 / 爷节点会被染成红色，无法让所有节点都变成黑色。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更关键的矛盾：如果所有节点都是黑色，那么任意两个节点的路径黑高都等于路径长度，这会导致树的高度完全固定，无法满足红黑树的插入调整规则。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00187" y="5537016"/>
            <a:ext cx="11391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start of case 1 we have set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be the sibling of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check on line 4 that 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means that the parent of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cannot be red. Otherwise property 4 is violated. Thus, their concerns are unfounded.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794" y="1716967"/>
            <a:ext cx="7067913" cy="179714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794" y="3667127"/>
            <a:ext cx="6839301" cy="17209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648" y="1477957"/>
            <a:ext cx="4541836" cy="39101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4" y="172807"/>
            <a:ext cx="6965794" cy="139114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135" y="0"/>
            <a:ext cx="7448550" cy="2895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2630" y="306070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假设 x.p是红色，会发生什么？</a:t>
            </a:r>
            <a:endParaRPr lang="zh-CN" altLang="en-US" b="1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1135" y="3760470"/>
            <a:ext cx="11281410" cy="12293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3560" y="4862195"/>
            <a:ext cx="1057656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但此时，兄弟节点 w是红色（Case 1 触发条件），那么 w作为 x.p的孩子，也必须满足性质 4：红节点的子节点必须是黑色， </a:t>
            </a:r>
            <a:endParaRPr lang="zh-CN" altLang="en-US"/>
          </a:p>
          <a:p>
            <a:r>
              <a:rPr lang="zh-CN" altLang="en-US"/>
              <a:t>但是w红色（矛盾了）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43890" y="6040755"/>
            <a:ext cx="7370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假设 x.p是红色会导致矛盾，所以 x.p必须是黑色。</a:t>
            </a:r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834307" y="2501182"/>
            <a:ext cx="61661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Part3</a:t>
            </a:r>
            <a:r>
              <a:rPr lang="zh-CN" altLang="en-US" sz="6000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：补充习题</a:t>
            </a:r>
            <a:endParaRPr lang="zh-CN" altLang="en-US" sz="6000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4" y="0"/>
            <a:ext cx="8165819" cy="433250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352" y="2525494"/>
            <a:ext cx="7973974" cy="43325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8643" y="66146"/>
            <a:ext cx="9562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Question1: </a:t>
            </a:r>
            <a:r>
              <a:rPr lang="en-US" altLang="zh-CN" sz="4800" b="1" dirty="0">
                <a:sym typeface="+mn-lt"/>
              </a:rPr>
              <a:t>Unique Binary Search Trees</a:t>
            </a:r>
            <a:endParaRPr lang="zh-CN" altLang="en-US" sz="4400" dirty="0"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8643" y="993468"/>
            <a:ext cx="11933358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Given an integer n, return the number of structurally unique BST's (binary search trees) which has exactly n nodes of unique values from 1 to n.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the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number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of structurally unique binary search trees.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Example 1: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Input: n = 3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Output: 5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Example 2: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Input: n = 1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Output: 1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https://leetcode.cn/problems/unique-binary-search-trees/description/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8" name="Picture 4" descr="https://assets.leetcode.com/uploads/2021/01/18/uniquebstn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14" y="3079653"/>
            <a:ext cx="4595812" cy="11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4780" y="0"/>
            <a:ext cx="3695065" cy="1564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73550" y="185420"/>
            <a:ext cx="7216775" cy="23279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44780" y="2611755"/>
            <a:ext cx="1146556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来看看</a:t>
            </a:r>
            <a:r>
              <a:rPr lang="zh-CN" altLang="en-US" b="1"/>
              <a:t>n为3的时候，有哪几种情况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当1为头结点的时候，其右子树有两个节点，看这两个节点的</a:t>
            </a:r>
            <a:r>
              <a:rPr lang="zh-CN" altLang="en-US" b="1"/>
              <a:t>布局</a:t>
            </a:r>
            <a:r>
              <a:rPr lang="zh-CN" altLang="en-US"/>
              <a:t>，和 n 为2的时候两棵树的布局是一样的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当3为头结点的时候，其左子树有两个节点，看这两个节点的</a:t>
            </a:r>
            <a:r>
              <a:rPr lang="zh-CN" altLang="en-US" b="1"/>
              <a:t>布局</a:t>
            </a:r>
            <a:r>
              <a:rPr lang="zh-CN" altLang="en-US"/>
              <a:t>，和n为2的时候两棵树的布局也是一样的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当2为头结点的时候，其左右子树都只有一个节点，布局和n为1的时候只有一棵树的布局也是一样的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发现到这里，其实我们就找到了</a:t>
            </a:r>
            <a:r>
              <a:rPr lang="zh-CN" altLang="en-US" b="1"/>
              <a:t>重叠子问题</a:t>
            </a:r>
            <a:r>
              <a:rPr lang="zh-CN" altLang="en-US"/>
              <a:t>了，其实也就是发现</a:t>
            </a:r>
            <a:r>
              <a:rPr lang="zh-CN" altLang="en-US" b="1"/>
              <a:t>可以通过dp[1] 和 dp[2] 来推导出来dp[3]的</a:t>
            </a:r>
            <a:r>
              <a:rPr lang="zh-CN" altLang="en-US"/>
              <a:t>某种方式。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8120" y="133985"/>
            <a:ext cx="1174369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dp[3]，</a:t>
            </a:r>
            <a:r>
              <a:rPr lang="zh-CN" altLang="en-US"/>
              <a:t>就是 元素1为头结点搜索树的数量 + 元素2为头结点搜索树的数量 + 元素3为头结点搜索树的数量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元素1为头结点搜索树的数量 = 右子树有2个元素的搜索树数量 * 左子树有0个元素的搜索树数量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元素2为头结点搜索树的数量 = 右子树有1个元素的搜索树数量 * 左子树有1个元素的搜索树数量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元素3为头结点搜索树的数量 = 右子树有0个元素的搜索树数量 * 左子树有2个元素的搜索树数量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有2个元素的搜索树数量就是dp[2]。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有1个元素的搜索树数量就是dp[1]。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有0个元素的搜索树数量就是dp[0]。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所以dp[3] = dp[2] * dp[0] + dp[1] * dp[1] + dp[0] * dp[2]</a:t>
            </a:r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83845" y="225425"/>
            <a:ext cx="11229975" cy="58483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8644" y="66146"/>
            <a:ext cx="5535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Answer</a:t>
            </a:r>
            <a:endParaRPr lang="zh-CN" altLang="en-US" dirty="0"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/>
              <p:cNvSpPr/>
              <p:nvPr/>
            </p:nvSpPr>
            <p:spPr>
              <a:xfrm>
                <a:off x="258644" y="929783"/>
                <a:ext cx="11352262" cy="55729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252095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b="1" dirty="0">
                    <a:solidFill>
                      <a:srgbClr val="FF0000"/>
                    </a:solidFill>
                  </a:rPr>
                  <a:t>动态规划</a:t>
                </a:r>
                <a:endParaRPr lang="en-US" altLang="zh-CN" b="1" dirty="0"/>
              </a:p>
              <a:p>
                <a:pPr defTabSz="252095">
                  <a:spcAft>
                    <a:spcPts val="600"/>
                  </a:spcAft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给定一个有序序列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:1,…,n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，为了构建出一棵二叉搜索树，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我们可以遍历每个数字</a:t>
                </a:r>
                <a:r>
                  <a:rPr lang="en-US" altLang="zh-CN" dirty="0" err="1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，将该数字作为树根，将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1,…,i−1 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序列作为左子树，将 </a:t>
                </a:r>
                <a:r>
                  <a:rPr lang="en-US" altLang="zh-CN" b="1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i+1,…,n 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序列作为右子树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。接着我们可以按照同样的方式递归构建左子树和右子树。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在上述构建的过程中，由于根的值不同，因此我们能保证每棵二叉搜索树是唯一的。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由此可见，原问题可以分解成规</a:t>
                </a:r>
                <a:r>
                  <a:rPr lang="zh-CN" altLang="en-US" dirty="0">
                    <a:solidFill>
                      <a:srgbClr val="FF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模较小的两个子问题，且子问题的解可以复用。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因此，我们可以想到使用动态规划来求解本题。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defTabSz="252095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边界情况：当序列长度为 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1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（只有根）或为 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（空树）时，只有一种情况，即：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G(0)=1, G(1)=1</a:t>
                </a:r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defTabSz="252095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状态转移方程：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G</m:t>
                      </m:r>
                      <m:d>
                        <m:d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</m:e>
                      </m:d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=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</m:sup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𝐺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)∙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defTabSz="252095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至此，我们从小到大计算 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G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函数即可，因为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G(n)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的值依赖 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G(0),…,G(n−1)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644" y="929783"/>
                <a:ext cx="11352262" cy="5572936"/>
              </a:xfrm>
              <a:prstGeom prst="rect">
                <a:avLst/>
              </a:prstGeom>
              <a:blipFill rotWithShape="1">
                <a:blip r:embed="rId1"/>
                <a:stretch>
                  <a:fillRect l="-2" t="-3" r="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945" y="2865504"/>
            <a:ext cx="6020109" cy="168283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512" y="838114"/>
            <a:ext cx="4165814" cy="335297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6239" y="369565"/>
            <a:ext cx="1444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 code: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6240" y="5000233"/>
            <a:ext cx="10341408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25209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复杂度分析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时间复杂度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O(n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，其中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表示二叉搜索树的节点个数。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G(n)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函数一共有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个值需要求解，每次求解需要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O(n) 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的时间复杂度，因此总时间复杂度为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O(n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空间复杂度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 O(n)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。我们需要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O(n)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的空间存储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 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数组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42890" y="1568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dp[i] ： 1到i为节点组成的二叉搜索树的个数为dp[i]。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342890" y="58737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dp[i] += dp[以j为头结点左子树节点数量] * dp[以j为头结点右子树节点数量]</a:t>
            </a:r>
            <a:endParaRPr lang="zh-CN" altLang="en-US"/>
          </a:p>
          <a:p>
            <a:r>
              <a:rPr lang="zh-CN" altLang="en-US"/>
              <a:t>j相当于是头结点的元素，从1遍历到i为止。</a:t>
            </a:r>
            <a:endParaRPr lang="zh-CN" altLang="en-US"/>
          </a:p>
          <a:p>
            <a:endParaRPr lang="zh-CN" altLang="en-US"/>
          </a:p>
          <a:p>
            <a:r>
              <a:rPr lang="zh-CN" altLang="en-US" b="1"/>
              <a:t>所以递推公式</a:t>
            </a:r>
            <a:r>
              <a:rPr lang="zh-CN" altLang="en-US"/>
              <a:t>：</a:t>
            </a:r>
            <a:endParaRPr lang="zh-CN" altLang="en-US"/>
          </a:p>
          <a:p>
            <a:r>
              <a:rPr lang="zh-CN" altLang="en-US"/>
              <a:t>dp[i]</a:t>
            </a:r>
            <a:r>
              <a:rPr lang="zh-CN" altLang="en-US">
                <a:solidFill>
                  <a:srgbClr val="FF0000"/>
                </a:solidFill>
              </a:rPr>
              <a:t> +=</a:t>
            </a:r>
            <a:r>
              <a:rPr lang="zh-CN" altLang="en-US"/>
              <a:t> dp[j - 1] * dp[i - j]; </a:t>
            </a:r>
            <a:endParaRPr lang="zh-CN" altLang="en-US"/>
          </a:p>
          <a:p>
            <a:r>
              <a:rPr lang="zh-CN" altLang="en-US"/>
              <a:t>j-1 为</a:t>
            </a:r>
            <a:r>
              <a:rPr lang="zh-CN" altLang="en-US" b="1"/>
              <a:t>j为头结点左子树节点数量</a:t>
            </a:r>
            <a:r>
              <a:rPr lang="zh-CN" altLang="en-US"/>
              <a:t>，i-j 为以</a:t>
            </a:r>
            <a:r>
              <a:rPr lang="zh-CN" altLang="en-US" b="1"/>
              <a:t>j为头结点右子树节点数量</a:t>
            </a:r>
            <a:endParaRPr lang="zh-CN" altLang="en-US" b="1"/>
          </a:p>
        </p:txBody>
      </p:sp>
      <p:sp>
        <p:nvSpPr>
          <p:cNvPr id="7" name="文本框 6"/>
          <p:cNvSpPr txBox="1"/>
          <p:nvPr/>
        </p:nvSpPr>
        <p:spPr>
          <a:xfrm>
            <a:off x="5280660" y="3721100"/>
            <a:ext cx="65271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确定遍历顺序</a:t>
            </a:r>
            <a:endParaRPr lang="zh-CN" altLang="en-US" b="1"/>
          </a:p>
          <a:p>
            <a:r>
              <a:rPr lang="zh-CN" altLang="en-US"/>
              <a:t>首先一定是遍历节点数，从递归公式：dp[i] += dp[j - 1] * dp[i - j]可以看出，节点数为i的状态是依靠 i之前节点数的状态。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那么遍历i里面每一个数作为头结点的状态，用j来遍历。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410200" y="30105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dp[0]应该是多少呢？空节点也是一棵二叉树。</a:t>
            </a:r>
            <a:r>
              <a:rPr lang="en-US" altLang="zh-CN"/>
              <a:t>dp[0]=1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232330" y="225893"/>
                <a:ext cx="11352262" cy="14863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defTabSz="252095">
                  <a:spcBef>
                    <a:spcPts val="600"/>
                  </a:spcBef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数学</a:t>
                </a:r>
                <a:r>
                  <a:rPr lang="en-US" altLang="zh-CN" b="1" dirty="0"/>
                  <a:t>——</a:t>
                </a:r>
                <a:r>
                  <a:rPr lang="zh-CN" altLang="en-US" b="1" dirty="0"/>
                  <a:t>卡特兰数</a:t>
                </a:r>
                <a:endParaRPr lang="en-US" altLang="zh-CN" b="1" dirty="0"/>
              </a:p>
              <a:p>
                <a:pPr defTabSz="252095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	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事实上我们在方法一中推导出的 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G(n)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函数的值在数学上被称为卡塔兰数 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C</a:t>
                </a:r>
                <a:r>
                  <a:rPr lang="en-US" altLang="zh-CN" baseline="-250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​ ,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卡塔兰数计算的定义如下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defTabSz="252095">
                  <a:spcBef>
                    <a:spcPts val="600"/>
                  </a:spcBef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C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1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    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1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30" y="225893"/>
                <a:ext cx="11352262" cy="1486304"/>
              </a:xfrm>
              <a:prstGeom prst="rect">
                <a:avLst/>
              </a:prstGeom>
              <a:blipFill rotWithShape="1">
                <a:blip r:embed="rId1"/>
                <a:stretch>
                  <a:fillRect l="-5" t="-31" r="3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408" y="2383477"/>
            <a:ext cx="4381725" cy="222261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07408" y="1948361"/>
            <a:ext cx="1444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C++ code: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07408" y="4671875"/>
            <a:ext cx="10341408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defTabSz="252095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复杂度分析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时间复杂度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 O(n)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，其中 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表示二叉搜索树的节点个数。只需要循环遍历一次即可。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空间复杂度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 O(1)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，只需要常数空间存放若干变量。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defTabSz="252095">
              <a:spcAft>
                <a:spcPts val="600"/>
              </a:spcAft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63165" y="106"/>
            <a:ext cx="9562934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Question2: </a:t>
            </a:r>
            <a:r>
              <a:rPr lang="en-US" altLang="zh-CN" sz="4800" b="1" dirty="0">
                <a:sym typeface="+mn-lt"/>
              </a:rPr>
              <a:t>Unique Binary Search Trees </a:t>
            </a:r>
            <a:r>
              <a:rPr lang="en-US" altLang="zh-CN" sz="4800" b="1" dirty="0"/>
              <a:t>II</a:t>
            </a:r>
            <a:endParaRPr lang="en-US" altLang="zh-CN" sz="4800" b="1" dirty="0"/>
          </a:p>
          <a:p>
            <a:endParaRPr lang="zh-CN" altLang="en-US" sz="4400" dirty="0"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8643" y="993468"/>
            <a:ext cx="11933358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Given an integer n, return all the structurally unique BST's (binary search trees), which has exactly n nodes of unique values from 1 to n. Return the answer in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any order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all the structurally unique binary search trees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Example 1: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Input: n = 3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Output:</a:t>
            </a:r>
            <a:r>
              <a:rPr lang="it-IT" altLang="zh-CN" sz="2000" dirty="0">
                <a:latin typeface="微软雅黑" panose="020B0503020204020204" charset="-122"/>
                <a:ea typeface="微软雅黑" panose="020B0503020204020204" charset="-122"/>
              </a:rPr>
              <a:t> [[1,null,2,null,3],[1,null,3,2],[2,1,3],[3,1,null,null,2],[3,2,null,1]]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Example 2: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Input: n = 1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Output: [[1]]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8" name="Picture 4" descr="https://assets.leetcode.com/uploads/2021/01/18/uniquebstn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14" y="3079653"/>
            <a:ext cx="4595812" cy="1132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7605" y="422193"/>
            <a:ext cx="1165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defTabSz="252095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b="1" dirty="0"/>
              <a:t>回溯法</a:t>
            </a:r>
            <a:endParaRPr lang="en-US" altLang="zh-CN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977" y="791525"/>
            <a:ext cx="9346855" cy="480174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61" y="97854"/>
            <a:ext cx="6447572" cy="66622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667250" y="4199890"/>
            <a:ext cx="7254875" cy="24860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252065" y="66147"/>
            <a:ext cx="1177986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5400">
                <a:latin typeface="Agency FB" panose="020B0503020202020204" pitchFamily="34" charset="0"/>
                <a:cs typeface="+mn-ea"/>
              </a:defRPr>
            </a:lvl1pPr>
          </a:lstStyle>
          <a:p>
            <a:r>
              <a:rPr lang="en-US" altLang="zh-CN" sz="4400" dirty="0">
                <a:sym typeface="+mn-lt"/>
              </a:rPr>
              <a:t>Practice: </a:t>
            </a:r>
            <a:r>
              <a:rPr lang="en-US" altLang="zh-CN" sz="4800" b="1" dirty="0">
                <a:sym typeface="+mn-lt"/>
              </a:rPr>
              <a:t>Convert Sorted List to Binary Search Tree</a:t>
            </a:r>
            <a:endParaRPr lang="en-US" altLang="zh-CN" sz="4800" b="1" dirty="0"/>
          </a:p>
          <a:p>
            <a:endParaRPr lang="zh-CN" altLang="en-US" sz="4400" dirty="0"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8643" y="993468"/>
            <a:ext cx="11933358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Description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Given the head of a singly linked list where elements are sorted in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ascending order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, convert it to a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height-balanced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binary search tree.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Returned Value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: any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possible 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height-balanced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binary search tree.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Example:</a:t>
            </a: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Input: head = [-10,-3,0,5,9]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      Output:</a:t>
            </a:r>
            <a:r>
              <a:rPr lang="it-IT" altLang="zh-CN" sz="2000" dirty="0">
                <a:latin typeface="微软雅黑" panose="020B0503020204020204" charset="-122"/>
                <a:ea typeface="微软雅黑" panose="020B0503020204020204" charset="-122"/>
              </a:rPr>
              <a:t> [0,-3,9,-10,null,5]</a:t>
            </a:r>
            <a:endParaRPr lang="it-IT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it-IT" altLang="zh-CN" sz="2000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Explanation: One possible answer is [0,-3,9,-10,null,5], which represents the shown height balanced BST.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6" name="Picture 2" descr="https://assets.leetcode.com/uploads/2020/08/17/linked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7175" y="2652877"/>
            <a:ext cx="2884499" cy="223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5537835" y="2729230"/>
            <a:ext cx="6096000" cy="25323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/>
              <a:t>不断中间分割，然后递归处理左区间，右区间，也可以说是分治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删除二叉树节点，增加二叉树节点，都是用递归函数的返回值来完成，这样是比较方便的</a:t>
            </a:r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" y="243409"/>
            <a:ext cx="7584617" cy="420360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37" y="4525268"/>
            <a:ext cx="7353678" cy="170188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9231" y="336391"/>
            <a:ext cx="5366026" cy="61852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053" y="311931"/>
            <a:ext cx="7474334" cy="42737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57" y="4652519"/>
            <a:ext cx="7321926" cy="16447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430" y="560746"/>
            <a:ext cx="5639090" cy="57089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5938</Words>
  <Application>WPS 演示</Application>
  <PresentationFormat>宽屏</PresentationFormat>
  <Paragraphs>320</Paragraphs>
  <Slides>40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Times New Roman</vt:lpstr>
      <vt:lpstr>微软雅黑</vt:lpstr>
      <vt:lpstr>Arial Unicode MS</vt:lpstr>
      <vt:lpstr>等线 Light</vt:lpstr>
      <vt:lpstr>等线</vt:lpstr>
      <vt:lpstr>Agency FB</vt:lpstr>
      <vt:lpstr>Cambria Math</vt:lpstr>
      <vt:lpstr>Calibri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Jiannuan</dc:creator>
  <cp:lastModifiedBy>坏坏、L</cp:lastModifiedBy>
  <cp:revision>74</cp:revision>
  <dcterms:created xsi:type="dcterms:W3CDTF">2024-03-12T08:45:00Z</dcterms:created>
  <dcterms:modified xsi:type="dcterms:W3CDTF">2026-05-17T06:58:33Z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2B21C5B45F5B4B5BBAE70EACAB659A4C_12</vt:lpwstr>
  </property>
  <property fmtid="{D5CDD505-2E9C-101B-9397-08002B2CF9AE}" pid="3" name="KSOProductBuildVer">
    <vt:lpwstr>2052-12.1.0.16120</vt:lpwstr>
  </property>
</Properties>
</file>